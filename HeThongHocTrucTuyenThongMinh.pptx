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1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634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59890" y="988103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TIỂU LUẬN KẾT THÚC MÔN HỌC — CHUYÊN ĐỀ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6429" y="1974828"/>
            <a:ext cx="825889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HỌC TRỰC TUYẾN</a:t>
            </a:r>
            <a:endParaRPr lang="en-US" sz="4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MINH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4501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Web Full-Stack 3 tầng tích hợp AI Chatbot — Django REST Framework · PostgreSQL · Vercel &amp; Render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53461" y="4114800"/>
            <a:ext cx="8439113" cy="31090"/>
          </a:xfrm>
          <a:prstGeom prst="line">
            <a:avLst/>
          </a:prstGeom>
          <a:noFill/>
          <a:ln w="12700">
            <a:solidFill>
              <a:srgbClr val="3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605944" y="5225383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Woei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Haur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_22050056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05944" y="5575141"/>
            <a:ext cx="22571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Dương Anh Tuân</a:t>
            </a:r>
            <a:r>
              <a:rPr lang="en-US" sz="13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trình bày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1600200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tổng quan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toán, mục tiêu, yêu cầu chức năng &amp; cơ sở lý thuyết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2496312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lý thuyết &amp; phân tích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2496312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kiến trúc 3 tầng, ERD, thiết kế giao diện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392424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3392424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392424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Frontend, Backend, Database, Auth, kiểm thử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288536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4288536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thực nghiệm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4288536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Cloud (Vercel/Render), minh chứng vận hành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5184648"/>
            <a:ext cx="914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828800" y="51846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5184648"/>
            <a:ext cx="5760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được, hạn chế, roadmap phát triển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tổng quan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mục tiêu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e-Learning toàn cầu đạt 250 tỷ USD (2023), tăng trưởng 14%/năm.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nền tảng học trực tuyến Full-Stack theo kiến trúc 3 tầng.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 Chatbot hỗ trợ học viên 24/7 dựa trên dữ liệu thật.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tiến độ, chấm điểm và cấp chứng chỉ tự động.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Cloud đảm bảo sẵn sàng cao &amp; khả năng mở rộng.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30952" cy="4709160"/>
          </a:xfrm>
          <a:prstGeom prst="roundRect">
            <a:avLst>
              <a:gd name="adj" fmla="val 1942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sử dụng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583680" y="242316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812280" y="253288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/ Học viên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12280" y="286207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khóa học, xem bài giảng, làm bài tập &amp; kiểm tra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83680" y="36576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12280" y="37673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/ Instructor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812280" y="409651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&amp; quản lý nội dung khóa học, đề thi, tài liệu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583680" y="489204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12280" y="50017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viên (Admin)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812280" y="5330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người dùng, phân quyền, xem báo cáo thống kê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Giới thiệu tổng quan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Yêu cầu hệ thống &amp; kiến trúc 3 tầng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ký, đăng nhập, OTP qua email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4173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11880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63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khóa học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93592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Chương, bài học, video, tài liệu PDF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4173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73952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711" y="173095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55664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lời dựa trên dữ liệu thật + FAQ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34856" y="141732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36024" y="16002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6783" y="17309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221284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&amp; Chứng chỉ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317736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nhận đăng ký, cấp chứng chỉ tự động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tầng (3-Tier Architecture)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160520"/>
            <a:ext cx="3639312" cy="1783080"/>
          </a:xfrm>
          <a:prstGeom prst="roundRect">
            <a:avLst>
              <a:gd name="adj" fmla="val 5128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777240" y="4343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77240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187952" y="4709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4462272" y="4160520"/>
            <a:ext cx="3639312" cy="1783080"/>
          </a:xfrm>
          <a:prstGeom prst="roundRect">
            <a:avLst>
              <a:gd name="adj" fmla="val 5128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4690872" y="4343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690872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(Python)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8101584" y="4699671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8375904" y="4160520"/>
            <a:ext cx="3639312" cy="1783080"/>
          </a:xfrm>
          <a:prstGeom prst="roundRect">
            <a:avLst>
              <a:gd name="adj" fmla="val 5128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8604504" y="4343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8604504" y="4846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(Render) / SQLite (dev)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1 · Giới thiệu tổng quan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hệ thống — Use Case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Actor chính và 9 Use Case tương ứng với các nhóm chức năng nghiệp vụ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4434840"/>
          </a:xfrm>
          <a:prstGeom prst="roundRect">
            <a:avLst>
              <a:gd name="adj" fmla="val 2410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794760" cy="228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0195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69164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04672" y="2606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UC02 Xem &amp; Đăng ký khóa học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" y="32644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UC03 Học bài giảng &amp; làm bài tập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04672" y="392277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UC04 Xem tiến độ &amp; kết quả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" y="458114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UC05 AI Chatbot hỏi đáp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5806440"/>
            <a:ext cx="3794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UC01: Đăng ký / Đăng nhập — dùng chung cho tất cả actor (JWT Authentication)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517136" y="1691640"/>
            <a:ext cx="3794760" cy="4434840"/>
          </a:xfrm>
          <a:prstGeom prst="roundRect">
            <a:avLst>
              <a:gd name="adj" fmla="val 2410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17136" y="1691640"/>
            <a:ext cx="379476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17136" y="2148840"/>
            <a:ext cx="3794760" cy="228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81728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0195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48656" y="169164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773168" y="26060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UC06 Tạo &amp; quản lý khóa học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773168" y="3264408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UC07 Quản lý bài giảng &amp; đề thi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17136" y="5806440"/>
            <a:ext cx="3794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UC01: Đăng ký / Đăng nhập — dùng chung cho tất cả actor (JWT Authentication)</a:t>
            </a: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8485632" y="1691640"/>
            <a:ext cx="3776472" cy="4434840"/>
          </a:xfrm>
          <a:prstGeom prst="roundRect">
            <a:avLst>
              <a:gd name="adj" fmla="val 2421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8485632" y="1691640"/>
            <a:ext cx="3776472" cy="68580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8485632" y="2148840"/>
            <a:ext cx="377647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8650224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9096" y="190195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217152" y="1691640"/>
            <a:ext cx="2862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8741664" y="2606040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UC08 Quản lý người dùng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8741664" y="3264408"/>
            <a:ext cx="327355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UC09 Xem báo cáo thống kê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485632" y="5806440"/>
            <a:ext cx="377647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UC01: Đăng ký / Đăng nhập — dùng chung cho tất cả actor (JWT Authentication)</a:t>
            </a:r>
            <a:endParaRPr lang="en-US" dirty="0"/>
          </a:p>
        </p:txBody>
      </p:sp>
      <p:sp>
        <p:nvSpPr>
          <p:cNvPr id="34" name="Shape 29"/>
          <p:cNvSpPr/>
          <p:nvPr/>
        </p:nvSpPr>
        <p:spPr>
          <a:xfrm>
            <a:off x="548640" y="6172200"/>
            <a:ext cx="11091672" cy="0"/>
          </a:xfrm>
          <a:prstGeom prst="round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548640" y="61996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UC01 — Đăng ký / Đăng nhập: dùng chung cho tất cả actor, xác thực qua JWT (email/mật khẩu).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tổng thể &amp; thiết kế dữ liệu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tổng thể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MPA — HTML/CSS/JS thuần, không dùng SPA framework, gọi API qua Fetch.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Django 4.2 + DRF, tổ chức 9 apps độc lập theo domain nghiệp vụ.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RESTful tại /api/..., tài liệu tự động Swagger UI/ReDoc.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JWT Access (24h) + Refresh (30 ngày) với rotation &amp; blacklist.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417320"/>
            <a:ext cx="5330952" cy="4709160"/>
          </a:xfrm>
          <a:prstGeom prst="roundRect">
            <a:avLst>
              <a:gd name="adj" fmla="val 1942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04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cơ sở dữ liệu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583680" y="242316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583680" y="24963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583680" y="30449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006840" y="242316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006840" y="249631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9006840" y="304495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83680" y="36576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83680" y="37307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6583680" y="42793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dữ liệu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006840" y="365760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2C3B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006840" y="37307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9006840" y="427939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583680" y="5074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7E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bảng chính: users, courses, lessons, enrollments, questions, categories — quản lý qua Django ORM &amp; migration tự động.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2 · Cơ sở lý thuyết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Xây dựng Frontend &amp; Backend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thuần — Multi-Page Application.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bằng Media Queries, hỗ trợ dark mode.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Player HTML5 &lt;video&gt;, video_url YouTube/CDN.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lưu trong localStorage, gọi API qua Fetch.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Hosting: Vercel (Static Site, auto-deploy, CDN toàn cầu).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18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65392" y="23774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+ Django 4.2 + DRF, 9 apps theo domain.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REST endpoints, tài liệu Swagger UI/ReDoc.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(ai_views.py): truy vấn DB thật + ~170 câu FAQ.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OTP qua Gmail SMTP cho quên mật khẩu.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lưu qua Django MEDIA_ROOT.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Kiến trúc hệ thống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mật, kiểm thử &amp; đánh giá kết quả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19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24h + Refresh 30 ngày, rotation &amp; blacklist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44568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19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theo vai trò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&gt; Instructor &gt; Student, custom permission classes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39328" y="1600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719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API &amp; chức năng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UI, Postman, manual + phân quyền + ràng buộc dữ liệu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EAF7E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0F9D5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68503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tầng rõ ràng, dễ bảo trì &amp; mở rộng.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dùng dữ liệu thật, không phụ thuộc API ngoài.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cơ bản tốt: JWT, RBAC, CORS/CSRF.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responsive, hỗ trợ dark mode.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199632" y="3337560"/>
            <a:ext cx="5440680" cy="2788920"/>
          </a:xfrm>
          <a:prstGeom prst="roundRect">
            <a:avLst>
              <a:gd name="adj" fmla="val 3279"/>
            </a:avLst>
          </a:prstGeom>
          <a:solidFill>
            <a:srgbClr val="FDF1E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73952" y="3566160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368503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68312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565392" y="41148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free tier có thể "ngủ" gây độ trễ lần đầu.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hỗ trợ đăng nhập mạng xã hội (Google/Facebook).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mobile app native.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tích hợp cổng thanh toán tự động.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· Kiến trúc hệ thống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thực nghiệm — Triển khai Cloud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 web / mobile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95928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9160" y="1691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2148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tĩnh · CDN toàn cầu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27848" y="196596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412480" y="1554480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41080" y="1691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1080" y="2148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Django + PostgreSQL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các thành phần triển khai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7490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74904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tĩnh, auto-deploy từ GitHub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3891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4389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(Gunicorn)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438912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khi push code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08960" y="50292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PostgreSQL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502920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tự động backup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56692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56692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Whitenoise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56692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Gzip/Brotli, phục vụ trực tiếp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Kết quả thực nghiệm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 chứng vận hành hệ thống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chức năng đã được kiểm thử và xác nhận hoạt động trên môi trường Cloud thực tế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28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/ Đăng nhập / OTP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039" y="200527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828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&amp; đăng ký khóa học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2628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38160" y="169164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21040" y="1874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799" y="20052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61120" y="18288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video, làm bài kiểm tra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32104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2461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31520" y="3429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559759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383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hỏi đáp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3152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43400" y="32461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26280" y="3429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3559759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66360" y="3383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 chứng chỉ hoàn thành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2628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38160" y="324612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21040" y="34290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799" y="3559759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61120" y="3383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khóa học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832104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48006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" y="5114239"/>
            <a:ext cx="241402" cy="24140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71600" y="4937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thống kê (Admin)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73152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4343400" y="48006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4526280" y="4983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7039" y="5114239"/>
            <a:ext cx="241402" cy="24140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66360" y="4937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khóa học &amp; đề thi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452628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38160" y="4800600"/>
            <a:ext cx="3611880" cy="1371600"/>
          </a:xfrm>
          <a:prstGeom prst="roundRect">
            <a:avLst>
              <a:gd name="adj" fmla="val 6667"/>
            </a:avLst>
          </a:prstGeom>
          <a:solidFill>
            <a:srgbClr val="F0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8321040" y="49834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1799" y="5114239"/>
            <a:ext cx="241402" cy="24140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961120" y="4937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— tài liệu API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8321040" y="5715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ổn định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· Kết quả thực nghiệm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 — Đối chiếu yêu cầu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kỹ thuật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0" y="1417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thực tế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92640" y="1417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1091672" cy="548640"/>
          </a:xfrm>
          <a:prstGeom prst="rect">
            <a:avLst/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3 tầng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0" y="19659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+ HTML/CSS/JS + PostgreSQL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29800" y="20574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29800" y="2057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42032"/>
            <a:ext cx="11091672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54203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nghiệp vụ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0" y="254203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5 → thực tế 9 nhóm chức năng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263347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29800" y="26334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118104"/>
            <a:ext cx="11091672" cy="548640"/>
          </a:xfrm>
          <a:prstGeom prst="rect">
            <a:avLst/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11810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người dùng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311810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2 role → thực tế 3 role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29800" y="3209544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9800" y="32095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694176"/>
            <a:ext cx="11091672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69417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0" y="369417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5 → thực tế 60+ endpoints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29800" y="3785616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29800" y="37856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70248"/>
            <a:ext cx="11091672" cy="548640"/>
          </a:xfrm>
          <a:prstGeom prst="rect">
            <a:avLst/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" y="427024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sở dữ liệu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114800" y="427024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5 bảng → thực tế 16 bảng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29800" y="436168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29800" y="4361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48463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Cloud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0" y="4846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 + Render (Backend)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829800" y="49377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29800" y="4937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422392"/>
            <a:ext cx="11091672" cy="548640"/>
          </a:xfrm>
          <a:prstGeom prst="rect">
            <a:avLst/>
          </a:prstGeom>
          <a:solidFill>
            <a:srgbClr val="F0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7240" y="54223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AI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14800" y="54223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 → AI Chatbot dữ liệu thật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829800" y="5513832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29800" y="5513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yêu cầu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Kết luận &amp; hướng phát triển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 chế &amp; hướng phát triển tương lai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DF1E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36192"/>
            <a:ext cx="457200" cy="457200"/>
          </a:xfrm>
          <a:prstGeom prst="ellipse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streaming, mobile app, cổng thanh toán tự động (MoMo/ZaloPay) và test coverage vẫn cần hoàn thiện.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3639312" cy="3566160"/>
          </a:xfrm>
          <a:prstGeom prst="roundRect">
            <a:avLst>
              <a:gd name="adj" fmla="val 2564"/>
            </a:avLst>
          </a:prstGeom>
          <a:solidFill>
            <a:srgbClr val="065A82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Ngắn hạn — v1.1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WebRTC live streaming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thanh toán MoMo, ZaloPay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React Native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test coverage &gt; 90%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62272" y="2651760"/>
            <a:ext cx="3639312" cy="3566160"/>
          </a:xfrm>
          <a:prstGeom prst="roundRect">
            <a:avLst>
              <a:gd name="adj" fmla="val 2564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90872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hạn — v2.0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690872" y="33375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tích hợp GPT-4 API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điểm, badges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đa ngôn ngữ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375904" y="2651760"/>
            <a:ext cx="3639312" cy="3566160"/>
          </a:xfrm>
          <a:prstGeom prst="roundRect">
            <a:avLst>
              <a:gd name="adj" fmla="val 2564"/>
            </a:avLst>
          </a:prstGeom>
          <a:solidFill>
            <a:srgbClr val="2129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04504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Dài hạn — v3.0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604504" y="33375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+ Kubernetes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Learning (WebXR)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Chứng chỉ trên Blockchain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3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cho AI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5 · Kết luận &amp; hướng phát triển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4789" y="811419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59" y="1025389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1719" y="811419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850620" y="2071604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đã xây dựng thành công một ứng dụng Web Full-Stack hoàn chỉnh, đáp ứng và vượt các yêu cầu kỹ thuật đề ra — nền tảng vững chắc cho kỹ năng Full-Stack, Cloud Engineering và AI Integration.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011680" y="42799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dữ liệu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2799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Cloud</a:t>
            </a:r>
            <a:endParaRPr lang="en-US" sz="11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41EA8B79-453C-66E3-4F38-4E311A79B5B3}"/>
              </a:ext>
            </a:extLst>
          </p:cNvPr>
          <p:cNvSpPr/>
          <p:nvPr/>
        </p:nvSpPr>
        <p:spPr>
          <a:xfrm>
            <a:off x="2011680" y="369954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9221A53-CC0A-62A9-202A-EB7852D402EE}"/>
              </a:ext>
            </a:extLst>
          </p:cNvPr>
          <p:cNvSpPr/>
          <p:nvPr/>
        </p:nvSpPr>
        <p:spPr>
          <a:xfrm>
            <a:off x="3840480" y="369954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30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337ED86-D1E5-546F-8CCA-67D6BFC9FF5C}"/>
              </a:ext>
            </a:extLst>
          </p:cNvPr>
          <p:cNvSpPr/>
          <p:nvPr/>
        </p:nvSpPr>
        <p:spPr>
          <a:xfrm>
            <a:off x="3840480" y="429390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041F7358-89C7-67E9-8738-063EBAE35B40}"/>
              </a:ext>
            </a:extLst>
          </p:cNvPr>
          <p:cNvSpPr/>
          <p:nvPr/>
        </p:nvSpPr>
        <p:spPr>
          <a:xfrm>
            <a:off x="5669280" y="369954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4ADA869D-62D9-98DA-7CCE-E966F7D254BF}"/>
              </a:ext>
            </a:extLst>
          </p:cNvPr>
          <p:cNvSpPr/>
          <p:nvPr/>
        </p:nvSpPr>
        <p:spPr>
          <a:xfrm>
            <a:off x="5669280" y="429390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1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5DD9CC96-F2D1-1701-C394-7B3F61562E29}"/>
              </a:ext>
            </a:extLst>
          </p:cNvPr>
          <p:cNvSpPr/>
          <p:nvPr/>
        </p:nvSpPr>
        <p:spPr>
          <a:xfrm>
            <a:off x="7498080" y="3699546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8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5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emo concept Images - Free Download on Magnific (formerly Freepik)">
            <a:extLst>
              <a:ext uri="{FF2B5EF4-FFF2-40B4-BE49-F238E27FC236}">
                <a16:creationId xmlns:a16="http://schemas.microsoft.com/office/drawing/2014/main" id="{E7D6CAAF-AD86-71DE-40BD-825A978AE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29" y="643467"/>
            <a:ext cx="837754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5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1550</Words>
  <Application>Microsoft Office PowerPoint</Application>
  <PresentationFormat>Widescreen</PresentationFormat>
  <Paragraphs>253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Học Trực Tuyến Thông Minh</dc:title>
  <dc:subject>PptxGenJS Presentation</dc:subject>
  <dc:creator>Chen Woei Haur</dc:creator>
  <cp:lastModifiedBy>CHEN WOEI HAUR</cp:lastModifiedBy>
  <cp:revision>3</cp:revision>
  <dcterms:created xsi:type="dcterms:W3CDTF">2026-07-03T00:17:09Z</dcterms:created>
  <dcterms:modified xsi:type="dcterms:W3CDTF">2026-07-03T00:27:30Z</dcterms:modified>
</cp:coreProperties>
</file>